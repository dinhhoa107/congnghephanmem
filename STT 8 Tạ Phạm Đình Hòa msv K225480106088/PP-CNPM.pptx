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4" r:id="rId9"/>
    <p:sldId id="287" r:id="rId10"/>
    <p:sldId id="313" r:id="rId11"/>
    <p:sldId id="314" r:id="rId12"/>
    <p:sldId id="312" r:id="rId13"/>
    <p:sldId id="289" r:id="rId14"/>
    <p:sldId id="315" r:id="rId15"/>
    <p:sldId id="290" r:id="rId16"/>
    <p:sldId id="316" r:id="rId17"/>
    <p:sldId id="298" r:id="rId18"/>
    <p:sldId id="299" r:id="rId19"/>
    <p:sldId id="301" r:id="rId20"/>
    <p:sldId id="311" r:id="rId21"/>
    <p:sldId id="302" r:id="rId22"/>
    <p:sldId id="31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9810" cy="102981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9970" y="161925"/>
            <a:ext cx="8576310" cy="100520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NGHỆ PHẦN MỀM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15925" y="1498600"/>
            <a:ext cx="10240645" cy="4893945"/>
          </a:xfrm>
        </p:spPr>
        <p:txBody>
          <a:bodyPr>
            <a:normAutofit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800" b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 tên:  </a:t>
            </a:r>
            <a:r>
              <a:rPr lang="en-US" sz="28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NGUYỄN MẠNH HIẾU   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MSSV:</a:t>
            </a:r>
            <a:r>
              <a:rPr sz="2800" b="1" spc="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K225480106</a:t>
            </a:r>
            <a:r>
              <a:rPr lang="en-US"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02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sz="28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457200" algn="l">
              <a:lnSpc>
                <a:spcPct val="150000"/>
              </a:lnSpc>
            </a:pP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2. MA QUỐC HIẾU MSSV: K225480106</a:t>
            </a:r>
            <a:endParaRPr lang="en-US" sz="28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457200" algn="l">
              <a:lnSpc>
                <a:spcPct val="150000"/>
              </a:lnSpc>
            </a:pPr>
            <a:r>
              <a:rPr lang="en-US"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3. TẠ PHẠM ĐÌNH HÒA MSSV: K225480106</a:t>
            </a:r>
            <a:endParaRPr sz="28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90000"/>
              </a:lnSpc>
              <a:spcBef>
                <a:spcPts val="750"/>
              </a:spcBef>
            </a:pPr>
            <a:r>
              <a:rPr sz="2800" b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Lớp:</a:t>
            </a:r>
            <a:r>
              <a:rPr sz="2800" b="1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K58KTP</a:t>
            </a:r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90000"/>
              </a:lnSpc>
              <a:spcBef>
                <a:spcPts val="750"/>
              </a:spcBef>
            </a:pP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GVHD: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NGUYỄN THỊ HƯƠNG</a:t>
            </a:r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7195" y="-635"/>
            <a:ext cx="9030335" cy="150685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DỰNG PHẦN MỀM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ẶT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Ồ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ONLINE CHO CỬA H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TNUT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77545" y="1506220"/>
            <a:ext cx="8597265" cy="41465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 CHÍNH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86485" y="2333625"/>
          <a:ext cx="8105775" cy="376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5775"/>
              </a:tblGrid>
              <a:tr h="940435">
                <a:tc>
                  <a:txBody>
                    <a:bodyPr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90C226"/>
                        </a:buClr>
                        <a:buSzPct val="80000"/>
                        <a:buFont typeface="Wingdings 3" panose="05040102010807070707" charset="2"/>
                        <a:buNone/>
                        <a:defRPr/>
                      </a:pPr>
                      <a:r>
                        <a:rPr kumimoji="0" lang="en-US" alt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Giới thiệu đề tài</a:t>
                      </a:r>
                      <a:endParaRPr kumimoji="0" lang="en-US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40435">
                <a:tc>
                  <a:txBody>
                    <a:bodyPr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90C226"/>
                        </a:buClr>
                        <a:buSzPct val="80000"/>
                        <a:buFont typeface="Wingdings 3" panose="05040102010807070707" charset="2"/>
                        <a:buNone/>
                        <a:defRPr/>
                      </a:pPr>
                      <a:r>
                        <a:rPr kumimoji="0" lang="en-US" alt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Khảo sát hệ thống</a:t>
                      </a:r>
                      <a:endParaRPr kumimoji="0" lang="en-US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40435">
                <a:tc>
                  <a:txBody>
                    <a:bodyPr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90C226"/>
                        </a:buClr>
                        <a:buSzPct val="80000"/>
                        <a:buFont typeface="Wingdings 3" panose="05040102010807070707" charset="2"/>
                        <a:buNone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Phân tích và thiết kế hệ thống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40435">
                <a:tc>
                  <a:txBody>
                    <a:bodyPr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90C226"/>
                        </a:buClr>
                        <a:buSzPct val="80000"/>
                        <a:buFont typeface="Wingdings 3" panose="05040102010807070707" charset="2"/>
                        <a:buNone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Kiểm thử và kết luận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77545" y="137160"/>
            <a:ext cx="8596630" cy="768985"/>
          </a:xfrm>
        </p:spPr>
        <p:txBody>
          <a:bodyPr/>
          <a:lstStyle/>
          <a:p>
            <a:pPr algn="ctr"/>
            <a:r>
              <a:rPr 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GIỚI THIỆU ĐỀ TÀI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>
          <a:xfrm>
            <a:off x="677545" y="1370965"/>
            <a:ext cx="8512810" cy="442341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do lựa chọn đề tài:</a:t>
            </a:r>
            <a:endParaRPr lang="en-US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thủ công tại cửa hàng TNUT còn nhiều hạn chế (chậm, sai sót, khó quản 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doanh thu)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Công nghệ thông tin phát triển mạnh, nhu cầu đặt đồ ăn online tăng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545" y="0"/>
            <a:ext cx="8596630" cy="118872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GIỚI THIỆU ĐỀ TÀI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77545" y="946150"/>
            <a:ext cx="8830310" cy="539877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Mục tiêu: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một website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giúp khách hàng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ặt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online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quyền ng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dùng r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õ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ràng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trạng thái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 hàng linh hoạt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thống kê và báo cáo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Hỗ trợ tìm kiếm và lọc thông tin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dễ sử dụng, phù hợp với sinh viên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545" y="635"/>
            <a:ext cx="8596630" cy="1106805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GIỚI THIỆU ĐỀ TÀI</a:t>
            </a:r>
            <a:endParaRPr lang="en-US" altLang="en-US" b="1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Content Placeholder 1"/>
          <p:cNvSpPr/>
          <p:nvPr>
            <p:ph idx="1"/>
          </p:nvPr>
        </p:nvSpPr>
        <p:spPr>
          <a:xfrm>
            <a:off x="677545" y="1108075"/>
            <a:ext cx="8527415" cy="5229860"/>
          </a:xfrm>
        </p:spPr>
        <p:txBody>
          <a:bodyPr>
            <a:normAutofit lnSpcReduction="10000"/>
          </a:bodyPr>
          <a:p>
            <a:pPr marL="0" indent="0">
              <a:lnSpc>
                <a:spcPct val="150000"/>
              </a:lnSpc>
              <a:buNone/>
            </a:pP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Phạm vi nghiên cứu:</a:t>
            </a:r>
            <a:endParaRPr lang="en-US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tập trung nghiên cứu và triển khai hệ thống trong phạm vi quán cơm tại Trường Đại học Kỹ Thuật Công Nghiệp.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67945"/>
            <a:ext cx="8596630" cy="110363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KHẢO SÁT HỆ THỐNG</a:t>
            </a:r>
            <a:endParaRPr lang="en-US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77545" y="1100455"/>
            <a:ext cx="8895715" cy="5210810"/>
          </a:xfrm>
        </p:spPr>
        <p:txBody>
          <a:bodyPr>
            <a:normAutofit lnSpcReduction="10000"/>
          </a:bodyPr>
          <a:p>
            <a:pPr marL="0" indent="0">
              <a:lnSpc>
                <a:spcPct val="150000"/>
              </a:lnSpc>
              <a:buNone/>
            </a:pP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trạng:</a:t>
            </a:r>
            <a:endParaRPr lang="en-US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Cửa hàng TNUT là một quán cơm phục vụ sinh viên, giảng viên và cán bộ tại Trường Đại học Kỹ thuật Công nghiệp – Đại học Thái Nguyên</a:t>
            </a:r>
            <a:endParaRPr lang="en-US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Mọi hoạt động đặt món chủ yếu thực hiện trực tiếp tại quầy, theo hình thức đến chọn món, thanh toán và chờ lấy đồ</a:t>
            </a:r>
            <a:endParaRPr lang="en-US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Ph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ơng thức truyền thống này không tối ưu, dễ xảy ra sai sót vào giờ cao điểm</a:t>
            </a:r>
            <a:endParaRPr lang="en-US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272415"/>
            <a:ext cx="8596630" cy="779145"/>
          </a:xfrm>
        </p:spPr>
        <p:txBody>
          <a:bodyPr/>
          <a:p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PHÂN TÍCH VÀ THIẾT KẾ HỆ THỐNG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884555"/>
            <a:ext cx="8596630" cy="5233670"/>
          </a:xfrm>
        </p:spPr>
        <p:txBody>
          <a:bodyPr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Sơ đồ luồng thông tin ra vào của hệ thống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71182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7530"/>
            <a:ext cx="8437880" cy="4670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186690"/>
            <a:ext cx="2393315" cy="5261610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Use-case khách hàng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9" name="Content Placeholder 8" descr="ua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96310" y="79375"/>
            <a:ext cx="5382895" cy="6699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111125"/>
            <a:ext cx="8596630" cy="759460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Use-case nhân viên</a:t>
            </a:r>
            <a:endParaRPr lang="en-US"/>
          </a:p>
        </p:txBody>
      </p:sp>
      <p:pic>
        <p:nvPicPr>
          <p:cNvPr id="125248225" name="Picture 1" descr="A diagram of a person with tex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05660" y="870585"/>
            <a:ext cx="6487795" cy="55264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635"/>
            <a:ext cx="8596630" cy="817245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Use-case chủ quán</a:t>
            </a:r>
            <a:endParaRPr lang="en-US"/>
          </a:p>
        </p:txBody>
      </p:sp>
      <p:pic>
        <p:nvPicPr>
          <p:cNvPr id="1718086445" name="Picture 1" descr="A diagram of a person with tex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53565" y="816610"/>
            <a:ext cx="6573520" cy="5389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05" y="2434590"/>
            <a:ext cx="1840865" cy="1291590"/>
          </a:xfrm>
        </p:spPr>
        <p:txBody>
          <a:bodyPr>
            <a:normAutofit/>
          </a:bodyPr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lớp</a:t>
            </a:r>
            <a:endParaRPr lang="en-US"/>
          </a:p>
        </p:txBody>
      </p:sp>
      <p:pic>
        <p:nvPicPr>
          <p:cNvPr id="1333230573" name="Picture 1" descr="A computer screen shot of a computer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15820" y="0"/>
            <a:ext cx="719645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" y="2242185"/>
            <a:ext cx="2983865" cy="2016760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hoạt động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48125914" name="Picture 1" descr="A diagram of a flowchar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22090" y="0"/>
            <a:ext cx="431292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65" y="2395220"/>
            <a:ext cx="2847340" cy="1929130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hoạt động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Picture 1" descr="A diagram of a flowchar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62375" y="0"/>
            <a:ext cx="461899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94890"/>
            <a:ext cx="2562860" cy="2094865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iểu đồ hoạt động</a:t>
            </a:r>
            <a:endParaRPr lang="en-US"/>
          </a:p>
        </p:txBody>
      </p:sp>
      <p:pic>
        <p:nvPicPr>
          <p:cNvPr id="183194118" name="Picture 1" descr="A diagram of a flowchar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67735" y="0"/>
            <a:ext cx="5044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485" y="2719705"/>
            <a:ext cx="2729230" cy="1428750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hoạt động</a:t>
            </a:r>
            <a:endParaRPr lang="en-US"/>
          </a:p>
        </p:txBody>
      </p:sp>
      <p:pic>
        <p:nvPicPr>
          <p:cNvPr id="183194118" name="Picture 1" descr="A diagram of a flowchar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6985" y="0"/>
            <a:ext cx="458978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123825"/>
            <a:ext cx="8596630" cy="950595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 biểu đồ tuần tự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826135"/>
            <a:ext cx="8596630" cy="521525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Biểu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ồ tuần tự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đă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 k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91199762" name="Picture 1" descr="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1644650"/>
            <a:ext cx="8608060" cy="49891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151130"/>
            <a:ext cx="8596630" cy="1004570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 biểu đồ tuần tự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762000"/>
            <a:ext cx="8596630" cy="527939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Biểu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ồ tuần tự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đă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 nhập: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0048760" name="Picture 1" descr="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45" y="1539875"/>
            <a:ext cx="8596630" cy="5318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151130"/>
            <a:ext cx="8596630" cy="923925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 biểu đồ tuần tự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610235"/>
            <a:ext cx="8596630" cy="543115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Biểu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ồ tuần tự đặt món: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47695211" name="Picture 1" descr="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80" y="1452880"/>
            <a:ext cx="8460740" cy="54057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81280"/>
            <a:ext cx="8596630" cy="864235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 biểu đồ tuần tự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945515"/>
            <a:ext cx="8596630" cy="5095875"/>
          </a:xfrm>
        </p:spPr>
        <p:txBody>
          <a:bodyPr/>
          <a:p>
            <a:pPr marL="0" indent="0"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tuần tự quản lý đặt món: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77276130" name="Picture 1" descr="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45" y="1591945"/>
            <a:ext cx="8478520" cy="52660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151130"/>
            <a:ext cx="8596630" cy="903605"/>
          </a:xfrm>
        </p:spPr>
        <p:txBody>
          <a:bodyPr>
            <a:normAutofit fontScale="90000"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Thiết kế cơ sở dữ 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504190"/>
            <a:ext cx="8596630" cy="553720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Sơ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ồ liên kết thực thể: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33301993" name="Picture 1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910" y="1306830"/>
            <a:ext cx="9149080" cy="56610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2371090"/>
            <a:ext cx="8739505" cy="920750"/>
          </a:xfrm>
        </p:spPr>
        <p:txBody>
          <a:bodyPr>
            <a:noAutofit/>
          </a:bodyPr>
          <a:p>
            <a:pPr algn="ctr"/>
            <a:r>
              <a:rPr lang="vi-VN" sz="6600" b="1" i="1" kern="10" dirty="0">
                <a:ln w="15875"/>
                <a:gradFill>
                  <a:gsLst>
                    <a:gs pos="0">
                      <a:schemeClr val="accent1">
                        <a:lumOff val="-19993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3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Thank </a:t>
            </a:r>
            <a:r>
              <a:rPr lang="en-US" altLang="vi-VN" sz="6600" b="1" i="1" kern="10" dirty="0">
                <a:ln w="15875"/>
                <a:gradFill>
                  <a:gsLst>
                    <a:gs pos="0">
                      <a:schemeClr val="accent1">
                        <a:lumOff val="-19993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3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Watching</a:t>
            </a:r>
            <a:r>
              <a:rPr lang="vi-VN" sz="6600" b="1" i="1" kern="10" dirty="0">
                <a:ln w="28575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2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53882" dir="2700000" algn="ctr" rotWithShape="0">
                    <a:schemeClr val="tx2">
                      <a:alpha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vi-VN" sz="6600" b="1" i="1" kern="10" dirty="0">
              <a:ln w="28575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accent2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53882" dir="2700000" algn="ctr" rotWithShape="0">
                  <a:schemeClr val="tx2">
                    <a:alpha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38*296"/>
  <p:tag name="TABLE_ENDDRAG_RECT" val="85*183*638*296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1747</Words>
  <Application>WPS Presentation</Application>
  <PresentationFormat>Widescreen</PresentationFormat>
  <Paragraphs>102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Wingdings 3</vt:lpstr>
      <vt:lpstr>Arial</vt:lpstr>
      <vt:lpstr>Times New Roman</vt:lpstr>
      <vt:lpstr>Microsoft YaHei</vt:lpstr>
      <vt:lpstr>Arial Unicode MS</vt:lpstr>
      <vt:lpstr>Trebuchet MS</vt:lpstr>
      <vt:lpstr>Calibri</vt:lpstr>
      <vt:lpstr>Facet</vt:lpstr>
      <vt:lpstr>CÔNG NGHỆ PHẦN MỀM</vt:lpstr>
      <vt:lpstr>XÂY DỰNG PHẦN MỀM ĐẶT ĐỒ ĂN ONLINE CHO CỬA HÀNG TNUT</vt:lpstr>
      <vt:lpstr>GIỚI THIỆU ĐỀ TÀI</vt:lpstr>
      <vt:lpstr>GIỚI THIỆU ĐỀ TÀI</vt:lpstr>
      <vt:lpstr>GIỚI THIỆU ĐỀ TÀI</vt:lpstr>
      <vt:lpstr>KHẢO SÁT HỆ THỐNG</vt:lpstr>
      <vt:lpstr>PHÂN TÍCH VÀ THIẾT KẾ HỆ THỐNG</vt:lpstr>
      <vt:lpstr>Biểu đồ Use-case khách hàng</vt:lpstr>
      <vt:lpstr>Biểu đồ Use-case nhân viên</vt:lpstr>
      <vt:lpstr>Biểu đồ Use-case chủ quán</vt:lpstr>
      <vt:lpstr>Biểu đồ lớp</vt:lpstr>
      <vt:lpstr>Biểu đồ hoạt động</vt:lpstr>
      <vt:lpstr>PowerPoint 演示文稿</vt:lpstr>
      <vt:lpstr>Biểu đồ hoạt động</vt:lpstr>
      <vt:lpstr>PowerPoint 演示文稿</vt:lpstr>
      <vt:lpstr>Các biểu đồ tuần tự</vt:lpstr>
      <vt:lpstr>Các biểu đồ tuần tự</vt:lpstr>
      <vt:lpstr>Các biểu đồ tuần tự</vt:lpstr>
      <vt:lpstr>Các biểu đồ tuần tự</vt:lpstr>
      <vt:lpstr>Thiết kế cơ sở dữ liệu</vt:lpstr>
      <vt:lpstr>Thank For Watching!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TẬP LỚN : PHÂN TÍCH VÀ THIẾT KẾ HỆ THỐNG</dc:title>
  <dc:creator>Administrator</dc:creator>
  <cp:lastModifiedBy>Hiếu Nguyễn</cp:lastModifiedBy>
  <cp:revision>94</cp:revision>
  <dcterms:created xsi:type="dcterms:W3CDTF">2025-04-21T02:54:00Z</dcterms:created>
  <dcterms:modified xsi:type="dcterms:W3CDTF">2025-11-06T01:54:55Z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B3B376C9F94B4390992A8225A608A026_12</vt:lpwstr>
  </property>
  <property fmtid="{D5CDD505-2E9C-101B-9397-08002B2CF9AE}" pid="3" name="KSOProductBuildVer">
    <vt:lpwstr>1033-12.2.0.23131</vt:lpwstr>
  </property>
</Properties>
</file>